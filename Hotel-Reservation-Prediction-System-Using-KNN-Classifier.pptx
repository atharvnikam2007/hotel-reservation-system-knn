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Arial Rounded MT Bold" panose="020F0704030504030204" pitchFamily="3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Raleway" pitchFamily="2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00397E-CA85-4341-82E6-308AE83433C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CCF98F7-520B-4ABE-B294-547C3CF46EB1}">
      <dgm:prSet/>
      <dgm:spPr/>
      <dgm:t>
        <a:bodyPr/>
        <a:lstStyle/>
        <a:p>
          <a:r>
            <a:rPr lang="en-US" dirty="0" err="1"/>
            <a:t>Analyse</a:t>
          </a:r>
          <a:r>
            <a:rPr lang="en-US" dirty="0"/>
            <a:t> hotel reservation dataset</a:t>
          </a:r>
          <a:endParaRPr lang="en-IN" dirty="0"/>
        </a:p>
      </dgm:t>
    </dgm:pt>
    <dgm:pt modelId="{E592BDDC-1DC9-45E9-838E-CB9D94FEB0E3}" type="parTrans" cxnId="{67E05E4B-C32E-4808-BDB7-B236131D69C6}">
      <dgm:prSet/>
      <dgm:spPr/>
      <dgm:t>
        <a:bodyPr/>
        <a:lstStyle/>
        <a:p>
          <a:endParaRPr lang="en-IN"/>
        </a:p>
      </dgm:t>
    </dgm:pt>
    <dgm:pt modelId="{97792726-0190-441C-878A-331A402A3B5C}" type="sibTrans" cxnId="{67E05E4B-C32E-4808-BDB7-B236131D69C6}">
      <dgm:prSet/>
      <dgm:spPr/>
      <dgm:t>
        <a:bodyPr/>
        <a:lstStyle/>
        <a:p>
          <a:endParaRPr lang="en-IN"/>
        </a:p>
      </dgm:t>
    </dgm:pt>
    <dgm:pt modelId="{A43EAC3F-C319-49D0-99A9-325C5E0D2E0B}" type="pres">
      <dgm:prSet presAssocID="{0300397E-CA85-4341-82E6-308AE83433CC}" presName="compositeShape" presStyleCnt="0">
        <dgm:presLayoutVars>
          <dgm:chMax val="7"/>
          <dgm:dir/>
          <dgm:resizeHandles val="exact"/>
        </dgm:presLayoutVars>
      </dgm:prSet>
      <dgm:spPr/>
    </dgm:pt>
    <dgm:pt modelId="{F23FD6C8-4D3D-40F0-BBCB-1571D25CCDF8}" type="pres">
      <dgm:prSet presAssocID="{0CCF98F7-520B-4ABE-B294-547C3CF46EB1}" presName="circ1TxSh" presStyleLbl="vennNode1" presStyleIdx="0" presStyleCnt="1"/>
      <dgm:spPr/>
    </dgm:pt>
  </dgm:ptLst>
  <dgm:cxnLst>
    <dgm:cxn modelId="{55D8CE22-2688-4E28-80AA-F229BABAE044}" type="presOf" srcId="{0CCF98F7-520B-4ABE-B294-547C3CF46EB1}" destId="{F23FD6C8-4D3D-40F0-BBCB-1571D25CCDF8}" srcOrd="0" destOrd="0" presId="urn:microsoft.com/office/officeart/2005/8/layout/venn1"/>
    <dgm:cxn modelId="{67E05E4B-C32E-4808-BDB7-B236131D69C6}" srcId="{0300397E-CA85-4341-82E6-308AE83433CC}" destId="{0CCF98F7-520B-4ABE-B294-547C3CF46EB1}" srcOrd="0" destOrd="0" parTransId="{E592BDDC-1DC9-45E9-838E-CB9D94FEB0E3}" sibTransId="{97792726-0190-441C-878A-331A402A3B5C}"/>
    <dgm:cxn modelId="{A3EF88AE-9BAE-45A6-A79A-1AF9B0FFB6BB}" type="presOf" srcId="{0300397E-CA85-4341-82E6-308AE83433CC}" destId="{A43EAC3F-C319-49D0-99A9-325C5E0D2E0B}" srcOrd="0" destOrd="0" presId="urn:microsoft.com/office/officeart/2005/8/layout/venn1"/>
    <dgm:cxn modelId="{9A6129DE-2561-4CE1-A843-C986BDA92D74}" type="presParOf" srcId="{A43EAC3F-C319-49D0-99A9-325C5E0D2E0B}" destId="{F23FD6C8-4D3D-40F0-BBCB-1571D25CCDF8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394A8B-3165-4C61-9CA9-05F755B8D2B1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4D63507-D6DA-4E76-854D-ED4EC4E7C5D6}">
      <dgm:prSet/>
      <dgm:spPr/>
      <dgm:t>
        <a:bodyPr/>
        <a:lstStyle/>
        <a:p>
          <a:r>
            <a:rPr lang="en-US" dirty="0"/>
            <a:t>Preprocess and clean booking data</a:t>
          </a:r>
          <a:endParaRPr lang="en-IN" dirty="0"/>
        </a:p>
      </dgm:t>
    </dgm:pt>
    <dgm:pt modelId="{F845DB1D-6455-4EB2-8AC3-1D633F7F7A9F}" type="parTrans" cxnId="{10B397EF-0CBC-46B7-97CA-B987E4352CED}">
      <dgm:prSet/>
      <dgm:spPr/>
      <dgm:t>
        <a:bodyPr/>
        <a:lstStyle/>
        <a:p>
          <a:endParaRPr lang="en-IN"/>
        </a:p>
      </dgm:t>
    </dgm:pt>
    <dgm:pt modelId="{2828F04A-809E-4E33-9A39-97DC915819AE}" type="sibTrans" cxnId="{10B397EF-0CBC-46B7-97CA-B987E4352CED}">
      <dgm:prSet/>
      <dgm:spPr/>
      <dgm:t>
        <a:bodyPr/>
        <a:lstStyle/>
        <a:p>
          <a:endParaRPr lang="en-IN"/>
        </a:p>
      </dgm:t>
    </dgm:pt>
    <dgm:pt modelId="{B0D6347C-D6E0-46F3-90B0-F63EA514E37F}" type="pres">
      <dgm:prSet presAssocID="{FA394A8B-3165-4C61-9CA9-05F755B8D2B1}" presName="compositeShape" presStyleCnt="0">
        <dgm:presLayoutVars>
          <dgm:chMax val="7"/>
          <dgm:dir/>
          <dgm:resizeHandles val="exact"/>
        </dgm:presLayoutVars>
      </dgm:prSet>
      <dgm:spPr/>
    </dgm:pt>
    <dgm:pt modelId="{5ED34440-B70A-4385-89A8-79B7ACEB3449}" type="pres">
      <dgm:prSet presAssocID="{E4D63507-D6DA-4E76-854D-ED4EC4E7C5D6}" presName="circ1TxSh" presStyleLbl="vennNode1" presStyleIdx="0" presStyleCnt="1"/>
      <dgm:spPr/>
    </dgm:pt>
  </dgm:ptLst>
  <dgm:cxnLst>
    <dgm:cxn modelId="{865F7972-FAF4-4315-B675-E76055E3E8BB}" type="presOf" srcId="{E4D63507-D6DA-4E76-854D-ED4EC4E7C5D6}" destId="{5ED34440-B70A-4385-89A8-79B7ACEB3449}" srcOrd="0" destOrd="0" presId="urn:microsoft.com/office/officeart/2005/8/layout/venn1"/>
    <dgm:cxn modelId="{7D0A1076-AF6C-4E37-8DAB-68C8543080E9}" type="presOf" srcId="{FA394A8B-3165-4C61-9CA9-05F755B8D2B1}" destId="{B0D6347C-D6E0-46F3-90B0-F63EA514E37F}" srcOrd="0" destOrd="0" presId="urn:microsoft.com/office/officeart/2005/8/layout/venn1"/>
    <dgm:cxn modelId="{10B397EF-0CBC-46B7-97CA-B987E4352CED}" srcId="{FA394A8B-3165-4C61-9CA9-05F755B8D2B1}" destId="{E4D63507-D6DA-4E76-854D-ED4EC4E7C5D6}" srcOrd="0" destOrd="0" parTransId="{F845DB1D-6455-4EB2-8AC3-1D633F7F7A9F}" sibTransId="{2828F04A-809E-4E33-9A39-97DC915819AE}"/>
    <dgm:cxn modelId="{A48E8832-82A6-4216-AC8E-94B1601BBB26}" type="presParOf" srcId="{B0D6347C-D6E0-46F3-90B0-F63EA514E37F}" destId="{5ED34440-B70A-4385-89A8-79B7ACEB3449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A5EF21-5DD4-4894-8B4C-7545B0C2B257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E08AC03-A3F9-44CD-8A0A-A9D674EC744E}">
      <dgm:prSet/>
      <dgm:spPr/>
      <dgm:t>
        <a:bodyPr/>
        <a:lstStyle/>
        <a:p>
          <a:r>
            <a:rPr lang="en-US" dirty="0"/>
            <a:t>Build a prediction model using KNN Classifier</a:t>
          </a:r>
          <a:endParaRPr lang="en-IN" dirty="0"/>
        </a:p>
      </dgm:t>
    </dgm:pt>
    <dgm:pt modelId="{F4274131-D694-4C08-A9A9-D54E4BEAE0D6}" type="parTrans" cxnId="{F15EA037-2DB8-4D31-9379-4C4FC201501D}">
      <dgm:prSet/>
      <dgm:spPr/>
      <dgm:t>
        <a:bodyPr/>
        <a:lstStyle/>
        <a:p>
          <a:endParaRPr lang="en-IN"/>
        </a:p>
      </dgm:t>
    </dgm:pt>
    <dgm:pt modelId="{E6B38368-AA6F-4A83-8C4F-DC0CBABD4948}" type="sibTrans" cxnId="{F15EA037-2DB8-4D31-9379-4C4FC201501D}">
      <dgm:prSet/>
      <dgm:spPr/>
      <dgm:t>
        <a:bodyPr/>
        <a:lstStyle/>
        <a:p>
          <a:endParaRPr lang="en-IN"/>
        </a:p>
      </dgm:t>
    </dgm:pt>
    <dgm:pt modelId="{06F1E322-A4A7-4F0E-8DA2-BEAA6B967798}" type="pres">
      <dgm:prSet presAssocID="{25A5EF21-5DD4-4894-8B4C-7545B0C2B257}" presName="compositeShape" presStyleCnt="0">
        <dgm:presLayoutVars>
          <dgm:chMax val="7"/>
          <dgm:dir/>
          <dgm:resizeHandles val="exact"/>
        </dgm:presLayoutVars>
      </dgm:prSet>
      <dgm:spPr/>
    </dgm:pt>
    <dgm:pt modelId="{7CB23A61-3AE1-416B-95D5-892312EC2509}" type="pres">
      <dgm:prSet presAssocID="{DE08AC03-A3F9-44CD-8A0A-A9D674EC744E}" presName="circ1TxSh" presStyleLbl="vennNode1" presStyleIdx="0" presStyleCnt="1"/>
      <dgm:spPr/>
    </dgm:pt>
  </dgm:ptLst>
  <dgm:cxnLst>
    <dgm:cxn modelId="{F35A9732-0C54-40E7-9EE4-805D0717FBFF}" type="presOf" srcId="{25A5EF21-5DD4-4894-8B4C-7545B0C2B257}" destId="{06F1E322-A4A7-4F0E-8DA2-BEAA6B967798}" srcOrd="0" destOrd="0" presId="urn:microsoft.com/office/officeart/2005/8/layout/venn1"/>
    <dgm:cxn modelId="{F15EA037-2DB8-4D31-9379-4C4FC201501D}" srcId="{25A5EF21-5DD4-4894-8B4C-7545B0C2B257}" destId="{DE08AC03-A3F9-44CD-8A0A-A9D674EC744E}" srcOrd="0" destOrd="0" parTransId="{F4274131-D694-4C08-A9A9-D54E4BEAE0D6}" sibTransId="{E6B38368-AA6F-4A83-8C4F-DC0CBABD4948}"/>
    <dgm:cxn modelId="{24515550-9B27-4F68-BC52-A5DD86007295}" type="presOf" srcId="{DE08AC03-A3F9-44CD-8A0A-A9D674EC744E}" destId="{7CB23A61-3AE1-416B-95D5-892312EC2509}" srcOrd="0" destOrd="0" presId="urn:microsoft.com/office/officeart/2005/8/layout/venn1"/>
    <dgm:cxn modelId="{ACD382A2-41F1-4E91-92F1-38A496700D9A}" type="presParOf" srcId="{06F1E322-A4A7-4F0E-8DA2-BEAA6B967798}" destId="{7CB23A61-3AE1-416B-95D5-892312EC2509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0848B8-98CD-4166-8F7E-D88C62ED3CF0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E07E4DB-F8F9-4490-A480-6810A05E1468}">
      <dgm:prSet/>
      <dgm:spPr/>
      <dgm:t>
        <a:bodyPr/>
        <a:lstStyle/>
        <a:p>
          <a:r>
            <a:rPr lang="en-US"/>
            <a:t>Evaluate model accuracy and performance</a:t>
          </a:r>
          <a:endParaRPr lang="en-IN"/>
        </a:p>
      </dgm:t>
    </dgm:pt>
    <dgm:pt modelId="{87EFE3C0-7AA5-4B03-8145-9E11E1623C5F}" type="parTrans" cxnId="{93E2CE56-8363-4EC2-8E1C-7991DBAF9658}">
      <dgm:prSet/>
      <dgm:spPr/>
      <dgm:t>
        <a:bodyPr/>
        <a:lstStyle/>
        <a:p>
          <a:endParaRPr lang="en-IN"/>
        </a:p>
      </dgm:t>
    </dgm:pt>
    <dgm:pt modelId="{710D17DD-9600-4036-A796-E0A1B3E69360}" type="sibTrans" cxnId="{93E2CE56-8363-4EC2-8E1C-7991DBAF9658}">
      <dgm:prSet/>
      <dgm:spPr/>
      <dgm:t>
        <a:bodyPr/>
        <a:lstStyle/>
        <a:p>
          <a:endParaRPr lang="en-IN"/>
        </a:p>
      </dgm:t>
    </dgm:pt>
    <dgm:pt modelId="{D7F74CCE-225A-4E46-9E33-DE6ABD25F780}" type="pres">
      <dgm:prSet presAssocID="{F40848B8-98CD-4166-8F7E-D88C62ED3CF0}" presName="compositeShape" presStyleCnt="0">
        <dgm:presLayoutVars>
          <dgm:chMax val="7"/>
          <dgm:dir/>
          <dgm:resizeHandles val="exact"/>
        </dgm:presLayoutVars>
      </dgm:prSet>
      <dgm:spPr/>
    </dgm:pt>
    <dgm:pt modelId="{A7400C47-D269-4EBA-A9A8-95BA262876A4}" type="pres">
      <dgm:prSet presAssocID="{FE07E4DB-F8F9-4490-A480-6810A05E1468}" presName="circ1TxSh" presStyleLbl="vennNode1" presStyleIdx="0" presStyleCnt="1"/>
      <dgm:spPr/>
    </dgm:pt>
  </dgm:ptLst>
  <dgm:cxnLst>
    <dgm:cxn modelId="{F9152441-3E89-46B1-B202-CDA94A6BC68D}" type="presOf" srcId="{FE07E4DB-F8F9-4490-A480-6810A05E1468}" destId="{A7400C47-D269-4EBA-A9A8-95BA262876A4}" srcOrd="0" destOrd="0" presId="urn:microsoft.com/office/officeart/2005/8/layout/venn1"/>
    <dgm:cxn modelId="{9B56DC51-39DB-4859-9F1B-CD8ACD620127}" type="presOf" srcId="{F40848B8-98CD-4166-8F7E-D88C62ED3CF0}" destId="{D7F74CCE-225A-4E46-9E33-DE6ABD25F780}" srcOrd="0" destOrd="0" presId="urn:microsoft.com/office/officeart/2005/8/layout/venn1"/>
    <dgm:cxn modelId="{93E2CE56-8363-4EC2-8E1C-7991DBAF9658}" srcId="{F40848B8-98CD-4166-8F7E-D88C62ED3CF0}" destId="{FE07E4DB-F8F9-4490-A480-6810A05E1468}" srcOrd="0" destOrd="0" parTransId="{87EFE3C0-7AA5-4B03-8145-9E11E1623C5F}" sibTransId="{710D17DD-9600-4036-A796-E0A1B3E69360}"/>
    <dgm:cxn modelId="{ECDA3748-F180-4D4D-B93E-D27BA1445586}" type="presParOf" srcId="{D7F74CCE-225A-4E46-9E33-DE6ABD25F780}" destId="{A7400C47-D269-4EBA-A9A8-95BA262876A4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8D46538-732F-4F27-9CD4-FE2D8CEA01A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AECD440-B47B-4A66-A9F8-E7B1356AAF7D}">
      <dgm:prSet/>
      <dgm:spPr/>
      <dgm:t>
        <a:bodyPr/>
        <a:lstStyle/>
        <a:p>
          <a:r>
            <a:rPr lang="en-US" dirty="0"/>
            <a:t>Provide insights for decision-making</a:t>
          </a:r>
          <a:endParaRPr lang="en-IN" dirty="0"/>
        </a:p>
      </dgm:t>
    </dgm:pt>
    <dgm:pt modelId="{CD81C22C-1204-4181-8316-F7BA890C2304}" type="parTrans" cxnId="{2B51CE5D-E018-47E3-AEF2-1F793FD15988}">
      <dgm:prSet/>
      <dgm:spPr/>
      <dgm:t>
        <a:bodyPr/>
        <a:lstStyle/>
        <a:p>
          <a:endParaRPr lang="en-IN"/>
        </a:p>
      </dgm:t>
    </dgm:pt>
    <dgm:pt modelId="{7B88E23F-421D-4205-872E-D9EA7D1D9D51}" type="sibTrans" cxnId="{2B51CE5D-E018-47E3-AEF2-1F793FD15988}">
      <dgm:prSet/>
      <dgm:spPr/>
      <dgm:t>
        <a:bodyPr/>
        <a:lstStyle/>
        <a:p>
          <a:endParaRPr lang="en-IN"/>
        </a:p>
      </dgm:t>
    </dgm:pt>
    <dgm:pt modelId="{3A887917-501F-4E94-81F2-C9E59AC9DCBD}" type="pres">
      <dgm:prSet presAssocID="{88D46538-732F-4F27-9CD4-FE2D8CEA01AC}" presName="compositeShape" presStyleCnt="0">
        <dgm:presLayoutVars>
          <dgm:chMax val="7"/>
          <dgm:dir/>
          <dgm:resizeHandles val="exact"/>
        </dgm:presLayoutVars>
      </dgm:prSet>
      <dgm:spPr/>
    </dgm:pt>
    <dgm:pt modelId="{EF06B069-0EB4-4D04-A4CF-1D618C8FCD0A}" type="pres">
      <dgm:prSet presAssocID="{2AECD440-B47B-4A66-A9F8-E7B1356AAF7D}" presName="circ1TxSh" presStyleLbl="vennNode1" presStyleIdx="0" presStyleCnt="1"/>
      <dgm:spPr/>
    </dgm:pt>
  </dgm:ptLst>
  <dgm:cxnLst>
    <dgm:cxn modelId="{2B51CE5D-E018-47E3-AEF2-1F793FD15988}" srcId="{88D46538-732F-4F27-9CD4-FE2D8CEA01AC}" destId="{2AECD440-B47B-4A66-A9F8-E7B1356AAF7D}" srcOrd="0" destOrd="0" parTransId="{CD81C22C-1204-4181-8316-F7BA890C2304}" sibTransId="{7B88E23F-421D-4205-872E-D9EA7D1D9D51}"/>
    <dgm:cxn modelId="{32E601C0-38FB-455C-BCC5-41F32A0EE14A}" type="presOf" srcId="{88D46538-732F-4F27-9CD4-FE2D8CEA01AC}" destId="{3A887917-501F-4E94-81F2-C9E59AC9DCBD}" srcOrd="0" destOrd="0" presId="urn:microsoft.com/office/officeart/2005/8/layout/venn1"/>
    <dgm:cxn modelId="{2EBB0ECE-EC83-4BBE-A3CA-EA7C6BB451E4}" type="presOf" srcId="{2AECD440-B47B-4A66-A9F8-E7B1356AAF7D}" destId="{EF06B069-0EB4-4D04-A4CF-1D618C8FCD0A}" srcOrd="0" destOrd="0" presId="urn:microsoft.com/office/officeart/2005/8/layout/venn1"/>
    <dgm:cxn modelId="{5DCA4826-B558-4FD5-A54E-46EC6CE19209}" type="presParOf" srcId="{3A887917-501F-4E94-81F2-C9E59AC9DCBD}" destId="{EF06B069-0EB4-4D04-A4CF-1D618C8FCD0A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FD6C8-4D3D-40F0-BBCB-1571D25CCDF8}">
      <dsp:nvSpPr>
        <dsp:cNvPr id="0" name=""/>
        <dsp:cNvSpPr/>
      </dsp:nvSpPr>
      <dsp:spPr>
        <a:xfrm>
          <a:off x="1554176" y="0"/>
          <a:ext cx="2437041" cy="24370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Analyse</a:t>
          </a:r>
          <a:r>
            <a:rPr lang="en-US" sz="2900" kern="1200" dirty="0"/>
            <a:t> hotel reservation dataset</a:t>
          </a:r>
          <a:endParaRPr lang="en-IN" sz="2900" kern="1200" dirty="0"/>
        </a:p>
      </dsp:txBody>
      <dsp:txXfrm>
        <a:off x="1911072" y="356896"/>
        <a:ext cx="1723249" cy="17232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34440-B70A-4385-89A8-79B7ACEB3449}">
      <dsp:nvSpPr>
        <dsp:cNvPr id="0" name=""/>
        <dsp:cNvSpPr/>
      </dsp:nvSpPr>
      <dsp:spPr>
        <a:xfrm>
          <a:off x="1554176" y="0"/>
          <a:ext cx="2437041" cy="24370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Preprocess and clean booking data</a:t>
          </a:r>
          <a:endParaRPr lang="en-IN" sz="3000" kern="1200" dirty="0"/>
        </a:p>
      </dsp:txBody>
      <dsp:txXfrm>
        <a:off x="1911072" y="356896"/>
        <a:ext cx="1723249" cy="17232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B23A61-3AE1-416B-95D5-892312EC2509}">
      <dsp:nvSpPr>
        <dsp:cNvPr id="0" name=""/>
        <dsp:cNvSpPr/>
      </dsp:nvSpPr>
      <dsp:spPr>
        <a:xfrm>
          <a:off x="614516" y="0"/>
          <a:ext cx="4316361" cy="431636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Build a prediction model using KNN Classifier</a:t>
          </a:r>
          <a:endParaRPr lang="en-IN" sz="4300" kern="1200" dirty="0"/>
        </a:p>
      </dsp:txBody>
      <dsp:txXfrm>
        <a:off x="1246632" y="632116"/>
        <a:ext cx="3052129" cy="30521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00C47-D269-4EBA-A9A8-95BA262876A4}">
      <dsp:nvSpPr>
        <dsp:cNvPr id="0" name=""/>
        <dsp:cNvSpPr/>
      </dsp:nvSpPr>
      <dsp:spPr>
        <a:xfrm>
          <a:off x="3015456" y="0"/>
          <a:ext cx="2437041" cy="243704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Evaluate model accuracy and performance</a:t>
          </a:r>
          <a:endParaRPr lang="en-IN" sz="2500" kern="1200"/>
        </a:p>
      </dsp:txBody>
      <dsp:txXfrm>
        <a:off x="3372352" y="356896"/>
        <a:ext cx="1723249" cy="17232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6B069-0EB4-4D04-A4CF-1D618C8FCD0A}">
      <dsp:nvSpPr>
        <dsp:cNvPr id="0" name=""/>
        <dsp:cNvSpPr/>
      </dsp:nvSpPr>
      <dsp:spPr>
        <a:xfrm>
          <a:off x="2489210" y="0"/>
          <a:ext cx="2529454" cy="252945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Provide insights for decision-making</a:t>
          </a:r>
          <a:endParaRPr lang="en-IN" sz="3100" kern="1200" dirty="0"/>
        </a:p>
      </dsp:txBody>
      <dsp:txXfrm>
        <a:off x="2859640" y="370430"/>
        <a:ext cx="1788594" cy="17885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513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63CD-E9AE-9B09-7410-BB15C05ED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E1659-5634-EA41-9CC2-49174B18F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42795-BE97-8C63-CCA7-4E37B94D5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4805-0943-4C99-8285-10AACC42B0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9CBCB-D1B3-0A77-9D07-18AEA18C8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7358A-D048-AE92-C2EC-CA7F99FC6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67707-012B-4718-ADD5-F298A5710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0588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56EF4-A8E2-843B-C308-10B76EB9D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2E375-7D34-E4F5-3AFF-429BC0446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71E2D-0F74-3469-0597-A38FFB243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4805-0943-4C99-8285-10AACC42B0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1FF83-6C21-DA11-DDA4-047F848BE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B0D79-2144-3C18-A081-714DA64AB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67707-012B-4718-ADD5-F298A5710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65561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6CC1E-1490-7DC3-97D9-F88A66A1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6B4F5-868C-7E44-68A4-220FE117A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6A158-BBB1-C8FA-7978-C89D54807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4805-0943-4C99-8285-10AACC42B0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FA469-D727-BF9C-E011-501B2439D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56862-E6C4-9798-8B91-5A937D63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67707-012B-4718-ADD5-F298A5710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137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F9D8D-DD74-0C9C-A00C-F24810030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70310-5459-682C-0B52-40600E153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F7D8CD-72ED-5F2C-2237-64D50AEF2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5AC00-9B3C-8B05-EC70-61CA2BE24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4805-0943-4C99-8285-10AACC42B0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143AA-43F8-FE22-EAB6-907DFD0D2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FBB7F-C9D6-EB60-16E3-CA7197E62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67707-012B-4718-ADD5-F298A5710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4206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69D3-A157-55C5-E4F6-4E3ED7388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2C661-7313-B363-E796-601092AC8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BE0D3-9C80-A884-D30D-A2F72DCF5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1F2195-FCB7-9165-43F2-E757A4DDC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8EB285-9A81-7E50-E44B-4BA8169F7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0BA773-310E-7D38-52D2-AF1057B0E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4805-0943-4C99-8285-10AACC42B0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78A18C-2628-C6B0-4899-15C9EEFD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2E6A91-6EC0-3B94-02C4-E9C759FFB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67707-012B-4718-ADD5-F298A5710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49519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B7180-C15A-EFD3-DCF4-9788170B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500AD-FD51-A796-ADB9-C81C3B027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4805-0943-4C99-8285-10AACC42B0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B1DABF-A490-D72A-CAAA-76107707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BAAC14-5EAF-3AB9-B897-2FC860CA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67707-012B-4718-ADD5-F298A5710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3993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10CCC3-8B7A-E8B2-7CA4-9A2B67856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4805-0943-4C99-8285-10AACC42B0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9C2F1-C7F1-1AE5-324B-499D337E4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C9E3B-8220-E978-8B11-4AB4AE424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67707-012B-4718-ADD5-F298A5710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02821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4B276-9EDF-7287-F6DE-F056244D8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FE5-8C79-7A0B-412A-A339C1D5A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9FFDB-ED82-603A-DAE0-DBA22BDF3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0EB17-A6D1-A6E0-2E52-ADCEBF0C3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4805-0943-4C99-8285-10AACC42B0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E7B14-E0E3-0BBD-DB0D-5E80166DC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D984F-A022-4B29-B6F8-152DF83F4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67707-012B-4718-ADD5-F298A5710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4403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1A748-5793-57A5-A862-6998D4CF0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4F5118-654F-2D25-40F3-4A82EF1C5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F71BC-982E-25BB-ED88-EFD498105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3BB6B-751D-2879-5871-A828160DD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4805-0943-4C99-8285-10AACC42B0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6C6C8-1BA3-2F69-FC4A-F3DA39242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EA9DE-E524-C6DB-96A0-32945A34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67707-012B-4718-ADD5-F298A5710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3483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9506-8A1D-8EF7-0689-976A69943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848F2-B22E-E9F6-71C7-FA24E5BFC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79345-2F86-BEA8-CCA8-6FFCDDB86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4805-0943-4C99-8285-10AACC42B0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5BEBC-FD88-6587-9B67-5E390C838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9238E-4DF5-F4B3-979D-477BE8955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67707-012B-4718-ADD5-F298A5710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4219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71C425-6795-9682-EB02-AA38F55EC9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7DDCC-E8F7-EF0A-640E-20BB7C3D3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AAFEE-2E70-096D-CED2-28AD688F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4805-0943-4C99-8285-10AACC42B0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C1529-A34D-3D5E-D2EA-09A42DA90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6E6AC-11A3-910D-01B5-4DD955B7D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67707-012B-4718-ADD5-F298A5710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51417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220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117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870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999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180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274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1158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3067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5156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49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E50B5-66F8-AA0B-F755-52C562E0B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72AF9-B314-3D6F-4EC7-9D93ECD69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919B1-3273-46B6-F4C3-A12D2A792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A4805-0943-4C99-8285-10AACC42B06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9B436-6070-DA17-7A21-7AB6E801C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17470-582A-C6C5-6EAF-7DA7F4F48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67707-012B-4718-ADD5-F298A5710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167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B.Tec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26" Type="http://schemas.openxmlformats.org/officeDocument/2006/relationships/diagramColors" Target="../diagrams/colors5.xml"/><Relationship Id="rId3" Type="http://schemas.openxmlformats.org/officeDocument/2006/relationships/diagramData" Target="../diagrams/data1.xml"/><Relationship Id="rId21" Type="http://schemas.openxmlformats.org/officeDocument/2006/relationships/diagramColors" Target="../diagrams/colors4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5" Type="http://schemas.openxmlformats.org/officeDocument/2006/relationships/diagramQuickStyle" Target="../diagrams/quickStyle5.xml"/><Relationship Id="rId2" Type="http://schemas.openxmlformats.org/officeDocument/2006/relationships/notesSlide" Target="../notesSlides/notesSlide4.xml"/><Relationship Id="rId16" Type="http://schemas.openxmlformats.org/officeDocument/2006/relationships/diagramColors" Target="../diagrams/colors3.xml"/><Relationship Id="rId20" Type="http://schemas.openxmlformats.org/officeDocument/2006/relationships/diagramQuickStyle" Target="../diagrams/quickStyle4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24" Type="http://schemas.openxmlformats.org/officeDocument/2006/relationships/diagramLayout" Target="../diagrams/layout5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diagramData" Target="../diagrams/data5.xml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Relationship Id="rId27" Type="http://schemas.microsoft.com/office/2007/relationships/diagramDrawing" Target="../diagrams/drawin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855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Hotel Reservation Prediction System Using KNN Classifier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06842"/>
            <a:ext cx="817137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 Project using Python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89" y="434155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Name: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Atharv Nikam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Naviotech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course 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– </a:t>
            </a:r>
            <a:r>
              <a:rPr lang="en-IN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320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u="sng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B.Tech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CSE / Data Science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500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Institution: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MIT ADT University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0681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 Year: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2024–25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32490" y="11413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323850" y="2897505"/>
            <a:ext cx="6877884" cy="1685092"/>
          </a:xfrm>
          <a:prstGeom prst="roundRect">
            <a:avLst>
              <a:gd name="adj" fmla="val 5654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4" name="Text 2"/>
          <p:cNvSpPr/>
          <p:nvPr/>
        </p:nvSpPr>
        <p:spPr>
          <a:xfrm>
            <a:off x="2372871" y="3100031"/>
            <a:ext cx="3043163" cy="3543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Impact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92669" y="3622358"/>
            <a:ext cx="6374631" cy="72580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Hotel reservation cancellations cause significant revenue loss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428548" y="2897505"/>
            <a:ext cx="6408063" cy="1685092"/>
          </a:xfrm>
          <a:prstGeom prst="roundRect">
            <a:avLst>
              <a:gd name="adj" fmla="val 5654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7" name="Text 5"/>
          <p:cNvSpPr/>
          <p:nvPr/>
        </p:nvSpPr>
        <p:spPr>
          <a:xfrm>
            <a:off x="9214961" y="3043237"/>
            <a:ext cx="2835235" cy="3543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Planning Benefits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Predicting reservation outcomes helps hotels improve planning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23850" y="4809411"/>
            <a:ext cx="6877884" cy="1685092"/>
          </a:xfrm>
          <a:prstGeom prst="roundRect">
            <a:avLst>
              <a:gd name="adj" fmla="val 5654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10" name="Text 8"/>
          <p:cNvSpPr/>
          <p:nvPr/>
        </p:nvSpPr>
        <p:spPr>
          <a:xfrm>
            <a:off x="2372216" y="4994672"/>
            <a:ext cx="3043163" cy="3543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 Analysis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92669" y="5534263"/>
            <a:ext cx="6374631" cy="36290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can analyse booking patterns effectively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1685092"/>
          </a:xfrm>
          <a:prstGeom prst="roundRect">
            <a:avLst>
              <a:gd name="adj" fmla="val 5654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13" name="Text 11"/>
          <p:cNvSpPr/>
          <p:nvPr/>
        </p:nvSpPr>
        <p:spPr>
          <a:xfrm>
            <a:off x="9214961" y="4994672"/>
            <a:ext cx="2835235" cy="3543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Approach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62982" y="5534263"/>
            <a:ext cx="5939195" cy="72580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uses K-Nearest Neighbours (KNN) for prediction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542330"/>
            <a:ext cx="5670590" cy="70877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u="sng" dirty="0">
                <a:solidFill>
                  <a:schemeClr val="bg2">
                    <a:lumMod val="90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4450" b="1" u="sng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143012"/>
            <a:ext cx="4196358" cy="3105864"/>
          </a:xfrm>
          <a:prstGeom prst="roundRect">
            <a:avLst>
              <a:gd name="adj" fmla="val 4711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5" name="Text 3"/>
          <p:cNvSpPr/>
          <p:nvPr/>
        </p:nvSpPr>
        <p:spPr>
          <a:xfrm>
            <a:off x="1142524" y="3400306"/>
            <a:ext cx="3513296" cy="42529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Uncertainty Challenge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142524" y="3961686"/>
            <a:ext cx="3590330" cy="72580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Hotels face uncertainty due to last-minute cancellations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216962" y="3143012"/>
            <a:ext cx="4196358" cy="3105864"/>
          </a:xfrm>
          <a:prstGeom prst="roundRect">
            <a:avLst>
              <a:gd name="adj" fmla="val 4711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9" name="Text 7"/>
          <p:cNvSpPr/>
          <p:nvPr/>
        </p:nvSpPr>
        <p:spPr>
          <a:xfrm>
            <a:off x="5565696" y="3400306"/>
            <a:ext cx="3402330" cy="42529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Limitations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565696" y="3961686"/>
            <a:ext cx="3590330" cy="72580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prediction is inaccurate and inefficient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40133" y="3143012"/>
            <a:ext cx="4196358" cy="3105864"/>
          </a:xfrm>
          <a:prstGeom prst="roundRect">
            <a:avLst>
              <a:gd name="adj" fmla="val 4711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13" name="Text 11"/>
          <p:cNvSpPr/>
          <p:nvPr/>
        </p:nvSpPr>
        <p:spPr>
          <a:xfrm>
            <a:off x="9988868" y="3400306"/>
            <a:ext cx="3458170" cy="42529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Requirements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988868" y="3961686"/>
            <a:ext cx="3590330" cy="36290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a system to: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88868" y="4460677"/>
            <a:ext cx="3590330" cy="72580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342900" indent="-342900" algn="ctr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whether a reservation will be confirmed or cancelled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88868" y="5265777"/>
            <a:ext cx="3590330" cy="72580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342900" indent="-342900" algn="ctr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chemeClr val="bg2">
                    <a:lumMod val="9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resource and revenue management</a:t>
            </a:r>
            <a:endParaRPr lang="en-US" sz="20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31261" y="287240"/>
            <a:ext cx="3080120" cy="70877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i="1" dirty="0">
                <a:solidFill>
                  <a:schemeClr val="bg2">
                    <a:lumMod val="90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4450" b="1" i="1" dirty="0">
              <a:solidFill>
                <a:schemeClr val="bg2">
                  <a:lumMod val="90000"/>
                </a:schemeClr>
              </a:solidFill>
            </a:endParaRP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1D504A11-BC80-A121-2822-BA64E67554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7828495"/>
              </p:ext>
            </p:extLst>
          </p:nvPr>
        </p:nvGraphicFramePr>
        <p:xfrm>
          <a:off x="-304800" y="1563329"/>
          <a:ext cx="5545393" cy="2437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ED951417-245E-456E-8CD3-063DE2008E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8325963"/>
              </p:ext>
            </p:extLst>
          </p:nvPr>
        </p:nvGraphicFramePr>
        <p:xfrm>
          <a:off x="9944016" y="1563328"/>
          <a:ext cx="5545393" cy="2437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4D2ED8D0-3822-7457-82F8-240273F217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8456951"/>
              </p:ext>
            </p:extLst>
          </p:nvPr>
        </p:nvGraphicFramePr>
        <p:xfrm>
          <a:off x="4398623" y="2113935"/>
          <a:ext cx="5545393" cy="4316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66E7DEE3-45A5-3022-61DB-0E6AB76EFB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7308040"/>
              </p:ext>
            </p:extLst>
          </p:nvPr>
        </p:nvGraphicFramePr>
        <p:xfrm>
          <a:off x="-1766081" y="5009323"/>
          <a:ext cx="8467954" cy="2437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29F70339-D0FF-E458-4AB6-3C7277276B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9847615"/>
              </p:ext>
            </p:extLst>
          </p:nvPr>
        </p:nvGraphicFramePr>
        <p:xfrm>
          <a:off x="8962775" y="4815243"/>
          <a:ext cx="7507874" cy="2529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61121" y="295810"/>
            <a:ext cx="4308158" cy="44969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600" b="1" i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Description</a:t>
            </a:r>
            <a:endParaRPr lang="en-US" sz="3600" b="1" i="1" dirty="0"/>
          </a:p>
        </p:txBody>
      </p:sp>
      <p:sp>
        <p:nvSpPr>
          <p:cNvPr id="3" name="Text 1"/>
          <p:cNvSpPr/>
          <p:nvPr/>
        </p:nvSpPr>
        <p:spPr>
          <a:xfrm>
            <a:off x="341709" y="1183867"/>
            <a:ext cx="13623131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Dataset:</a:t>
            </a: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Hotel Reservation Dataset (CSV)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1709" y="2726769"/>
            <a:ext cx="3794284" cy="45601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Attributes include:</a:t>
            </a:r>
            <a:endParaRPr lang="en-US" sz="3200" b="1" dirty="0"/>
          </a:p>
        </p:txBody>
      </p:sp>
      <p:sp>
        <p:nvSpPr>
          <p:cNvPr id="5" name="Text 3"/>
          <p:cNvSpPr/>
          <p:nvPr/>
        </p:nvSpPr>
        <p:spPr>
          <a:xfrm>
            <a:off x="341709" y="3477816"/>
            <a:ext cx="663606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 of adults and children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1709" y="3758447"/>
            <a:ext cx="663606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Room type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41709" y="4039077"/>
            <a:ext cx="663606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 time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1709" y="4319707"/>
            <a:ext cx="663606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segment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1709" y="4600338"/>
            <a:ext cx="663606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price per room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1709" y="4880968"/>
            <a:ext cx="6636068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 status (Target variable)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1709" y="6183301"/>
            <a:ext cx="3287026" cy="1025009"/>
          </a:xfrm>
          <a:prstGeom prst="roundRect">
            <a:avLst>
              <a:gd name="adj" fmla="val 5897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899160" y="6426010"/>
            <a:ext cx="2158841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Variable: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84835" y="6695806"/>
            <a:ext cx="5934789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 Status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(Confirmed / Cancelled)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BB79CDA-0588-5947-6256-20D8D9B17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166" y="1793793"/>
            <a:ext cx="8733525" cy="59097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905" y="624365"/>
            <a:ext cx="5670590" cy="70877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Preprocessing</a:t>
            </a:r>
            <a:endParaRPr lang="en-US" sz="4450" b="1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1020604" y="3145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Cleaning</a:t>
            </a:r>
            <a:endParaRPr lang="en-US" sz="2000" b="1" dirty="0"/>
          </a:p>
        </p:txBody>
      </p:sp>
      <p:sp>
        <p:nvSpPr>
          <p:cNvPr id="5" name="Text 2"/>
          <p:cNvSpPr/>
          <p:nvPr/>
        </p:nvSpPr>
        <p:spPr>
          <a:xfrm>
            <a:off x="1020604" y="363569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Removed missing and duplicate values</a:t>
            </a:r>
            <a:endParaRPr lang="en-US" sz="2000" b="1" dirty="0"/>
          </a:p>
        </p:txBody>
      </p:sp>
      <p:sp>
        <p:nvSpPr>
          <p:cNvPr id="7" name="Text 3"/>
          <p:cNvSpPr/>
          <p:nvPr/>
        </p:nvSpPr>
        <p:spPr>
          <a:xfrm>
            <a:off x="7542014" y="31452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Encoding</a:t>
            </a:r>
            <a:endParaRPr lang="en-US" sz="2000" b="1" dirty="0"/>
          </a:p>
        </p:txBody>
      </p:sp>
      <p:sp>
        <p:nvSpPr>
          <p:cNvPr id="8" name="Text 4"/>
          <p:cNvSpPr/>
          <p:nvPr/>
        </p:nvSpPr>
        <p:spPr>
          <a:xfrm>
            <a:off x="7542014" y="363569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Converted categorical data using encoding</a:t>
            </a:r>
            <a:endParaRPr lang="en-US" sz="2000" b="1" dirty="0"/>
          </a:p>
        </p:txBody>
      </p:sp>
      <p:sp>
        <p:nvSpPr>
          <p:cNvPr id="10" name="Text 5"/>
          <p:cNvSpPr/>
          <p:nvPr/>
        </p:nvSpPr>
        <p:spPr>
          <a:xfrm>
            <a:off x="1020604" y="53594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Scaling</a:t>
            </a:r>
            <a:endParaRPr lang="en-US" sz="2000" b="1" dirty="0"/>
          </a:p>
        </p:txBody>
      </p:sp>
      <p:sp>
        <p:nvSpPr>
          <p:cNvPr id="11" name="Text 6"/>
          <p:cNvSpPr/>
          <p:nvPr/>
        </p:nvSpPr>
        <p:spPr>
          <a:xfrm>
            <a:off x="1020604" y="584989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Feature scaling applied for distance-based learning</a:t>
            </a:r>
            <a:endParaRPr lang="en-US" sz="2000" b="1" dirty="0"/>
          </a:p>
        </p:txBody>
      </p:sp>
      <p:sp>
        <p:nvSpPr>
          <p:cNvPr id="13" name="Text 7"/>
          <p:cNvSpPr/>
          <p:nvPr/>
        </p:nvSpPr>
        <p:spPr>
          <a:xfrm>
            <a:off x="7542014" y="53594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Split</a:t>
            </a:r>
            <a:endParaRPr lang="en-US" sz="2000" b="1" dirty="0"/>
          </a:p>
        </p:txBody>
      </p:sp>
      <p:sp>
        <p:nvSpPr>
          <p:cNvPr id="14" name="Text 8"/>
          <p:cNvSpPr/>
          <p:nvPr/>
        </p:nvSpPr>
        <p:spPr>
          <a:xfrm>
            <a:off x="7542014" y="584989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Split data into: </a:t>
            </a:r>
            <a:endParaRPr lang="en-US" sz="2000" b="1" dirty="0"/>
          </a:p>
        </p:txBody>
      </p:sp>
      <p:sp>
        <p:nvSpPr>
          <p:cNvPr id="15" name="Text 9"/>
          <p:cNvSpPr/>
          <p:nvPr/>
        </p:nvSpPr>
        <p:spPr>
          <a:xfrm>
            <a:off x="7542014" y="6348889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 Training set</a:t>
            </a:r>
            <a:endParaRPr lang="en-US" sz="2000" b="1" dirty="0"/>
          </a:p>
        </p:txBody>
      </p:sp>
      <p:sp>
        <p:nvSpPr>
          <p:cNvPr id="16" name="Text 10"/>
          <p:cNvSpPr/>
          <p:nvPr/>
        </p:nvSpPr>
        <p:spPr>
          <a:xfrm>
            <a:off x="7542014" y="6791087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 Testing set</a:t>
            </a:r>
            <a:endParaRPr lang="en-US" sz="20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41427" y="359331"/>
            <a:ext cx="8326636" cy="70877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i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 Model – KNN</a:t>
            </a:r>
            <a:endParaRPr lang="en-US" sz="4450" b="1" i="1" dirty="0"/>
          </a:p>
        </p:txBody>
      </p:sp>
      <p:sp>
        <p:nvSpPr>
          <p:cNvPr id="3" name="Text 1"/>
          <p:cNvSpPr/>
          <p:nvPr/>
        </p:nvSpPr>
        <p:spPr>
          <a:xfrm>
            <a:off x="793790" y="2586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KNN is a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 learning algorithm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31500"/>
            <a:ext cx="399930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Works on the principle of:</a:t>
            </a:r>
            <a:endParaRPr lang="en-US" sz="2650" b="1" dirty="0"/>
          </a:p>
        </p:txBody>
      </p:sp>
      <p:sp>
        <p:nvSpPr>
          <p:cNvPr id="5" name="Text 3"/>
          <p:cNvSpPr/>
          <p:nvPr/>
        </p:nvSpPr>
        <p:spPr>
          <a:xfrm>
            <a:off x="1133951" y="4111943"/>
            <a:ext cx="52247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 data points have similar outcomes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2999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Distance Metric:</a:t>
            </a:r>
            <a:endParaRPr lang="en-US" sz="2650" b="1" dirty="0"/>
          </a:p>
        </p:txBody>
      </p:sp>
      <p:sp>
        <p:nvSpPr>
          <p:cNvPr id="8" name="Text 6"/>
          <p:cNvSpPr/>
          <p:nvPr/>
        </p:nvSpPr>
        <p:spPr>
          <a:xfrm>
            <a:off x="793790" y="5382101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Euclidean Distance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919674" y="343150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Steps:</a:t>
            </a:r>
            <a:endParaRPr lang="en-US" sz="2650" b="1" dirty="0"/>
          </a:p>
        </p:txBody>
      </p:sp>
      <p:sp>
        <p:nvSpPr>
          <p:cNvPr id="10" name="Shape 8"/>
          <p:cNvSpPr/>
          <p:nvPr/>
        </p:nvSpPr>
        <p:spPr>
          <a:xfrm>
            <a:off x="6919674" y="411194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4745" y="415444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7656790" y="4189809"/>
            <a:ext cx="51755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Calculate distance between data points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919674" y="507587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04745" y="511837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7656790" y="5153739"/>
            <a:ext cx="36886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 K nearest neighbours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919674" y="603980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4745" y="608230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7656790" y="6117669"/>
            <a:ext cx="42086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 based on majority voting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3325" y="151320"/>
            <a:ext cx="9463743" cy="57626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i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 / Workflow/ </a:t>
            </a:r>
            <a:r>
              <a:rPr lang="en-IN" sz="3600" b="1" i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 </a:t>
            </a:r>
            <a:endParaRPr lang="en-US" sz="3600" b="1" i="1" dirty="0"/>
          </a:p>
        </p:txBody>
      </p:sp>
      <p:sp>
        <p:nvSpPr>
          <p:cNvPr id="4" name="Text 1"/>
          <p:cNvSpPr/>
          <p:nvPr/>
        </p:nvSpPr>
        <p:spPr>
          <a:xfrm>
            <a:off x="5378826" y="1278793"/>
            <a:ext cx="3872746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Load hotel reservation dataset</a:t>
            </a:r>
            <a:endParaRPr lang="en-US" sz="2150" b="1" dirty="0"/>
          </a:p>
        </p:txBody>
      </p:sp>
      <p:sp>
        <p:nvSpPr>
          <p:cNvPr id="6" name="Text 2"/>
          <p:cNvSpPr/>
          <p:nvPr/>
        </p:nvSpPr>
        <p:spPr>
          <a:xfrm>
            <a:off x="5630524" y="2819492"/>
            <a:ext cx="3369350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Preprocess and scale data</a:t>
            </a:r>
            <a:endParaRPr lang="en-US" sz="2150" b="1" dirty="0"/>
          </a:p>
        </p:txBody>
      </p:sp>
      <p:sp>
        <p:nvSpPr>
          <p:cNvPr id="8" name="Text 3"/>
          <p:cNvSpPr/>
          <p:nvPr/>
        </p:nvSpPr>
        <p:spPr>
          <a:xfrm>
            <a:off x="5932109" y="4360191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 KNN classifier</a:t>
            </a:r>
            <a:endParaRPr lang="en-US" sz="2150" b="1" dirty="0"/>
          </a:p>
        </p:txBody>
      </p:sp>
      <p:sp>
        <p:nvSpPr>
          <p:cNvPr id="10" name="Text 4"/>
          <p:cNvSpPr/>
          <p:nvPr/>
        </p:nvSpPr>
        <p:spPr>
          <a:xfrm>
            <a:off x="5480206" y="5899018"/>
            <a:ext cx="3669983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model with unseen data</a:t>
            </a:r>
            <a:endParaRPr lang="en-US" sz="2150" b="1" dirty="0"/>
          </a:p>
        </p:txBody>
      </p:sp>
      <p:sp>
        <p:nvSpPr>
          <p:cNvPr id="12" name="Text 5"/>
          <p:cNvSpPr/>
          <p:nvPr/>
        </p:nvSpPr>
        <p:spPr>
          <a:xfrm>
            <a:off x="4367091" y="7437845"/>
            <a:ext cx="5509022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prediction and evaluation metrics</a:t>
            </a:r>
            <a:endParaRPr lang="en-US" sz="2150" b="1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DDDA0D82-33CE-011A-5BBF-3F9797953E4E}"/>
              </a:ext>
            </a:extLst>
          </p:cNvPr>
          <p:cNvSpPr/>
          <p:nvPr/>
        </p:nvSpPr>
        <p:spPr>
          <a:xfrm>
            <a:off x="7113922" y="1666796"/>
            <a:ext cx="402550" cy="1150824"/>
          </a:xfrm>
          <a:prstGeom prst="downArrow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CABDC05D-246D-9DFC-3B0A-0FAB11C1B6BD}"/>
              </a:ext>
            </a:extLst>
          </p:cNvPr>
          <p:cNvSpPr/>
          <p:nvPr/>
        </p:nvSpPr>
        <p:spPr>
          <a:xfrm>
            <a:off x="7113922" y="6244748"/>
            <a:ext cx="402550" cy="1150824"/>
          </a:xfrm>
          <a:prstGeom prst="downArrow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49320C1-6C1D-A576-CB1F-A6450FF4C20B}"/>
              </a:ext>
            </a:extLst>
          </p:cNvPr>
          <p:cNvSpPr/>
          <p:nvPr/>
        </p:nvSpPr>
        <p:spPr>
          <a:xfrm>
            <a:off x="7113922" y="4748194"/>
            <a:ext cx="402550" cy="1150824"/>
          </a:xfrm>
          <a:prstGeom prst="downArrow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A0F5AD76-9FEF-1BB6-8E53-2B52E7D83A8E}"/>
              </a:ext>
            </a:extLst>
          </p:cNvPr>
          <p:cNvSpPr/>
          <p:nvPr/>
        </p:nvSpPr>
        <p:spPr>
          <a:xfrm>
            <a:off x="7113922" y="3186312"/>
            <a:ext cx="402550" cy="1150824"/>
          </a:xfrm>
          <a:prstGeom prst="downArrow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905" y="386001"/>
            <a:ext cx="5670590" cy="70877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Evaluation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93790" y="310003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Metrics</a:t>
            </a:r>
            <a:endParaRPr lang="en-US" sz="2650" b="1" dirty="0"/>
          </a:p>
        </p:txBody>
      </p:sp>
      <p:sp>
        <p:nvSpPr>
          <p:cNvPr id="4" name="Text 2"/>
          <p:cNvSpPr/>
          <p:nvPr/>
        </p:nvSpPr>
        <p:spPr>
          <a:xfrm>
            <a:off x="793790" y="375213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 Score used for evaluation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943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Confusion Matrix analysed: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365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True Positives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78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True Negatives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520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 Positives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9631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 Negatives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599521" y="3649861"/>
            <a:ext cx="6244709" cy="1978819"/>
          </a:xfrm>
          <a:prstGeom prst="roundRect">
            <a:avLst>
              <a:gd name="adj" fmla="val 4814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12" name="Text 9"/>
          <p:cNvSpPr/>
          <p:nvPr/>
        </p:nvSpPr>
        <p:spPr>
          <a:xfrm>
            <a:off x="8478441" y="393334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8478441" y="4585454"/>
            <a:ext cx="51389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indicate KNN performs well for reservation prediction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65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</a:t>
            </a:r>
            <a:endParaRPr lang="en-US" sz="4450" b="1" dirty="0"/>
          </a:p>
        </p:txBody>
      </p:sp>
      <p:sp>
        <p:nvSpPr>
          <p:cNvPr id="3" name="Shape 1"/>
          <p:cNvSpPr/>
          <p:nvPr/>
        </p:nvSpPr>
        <p:spPr>
          <a:xfrm>
            <a:off x="793790" y="2905482"/>
            <a:ext cx="6407944" cy="1438870"/>
          </a:xfrm>
          <a:prstGeom prst="roundRect">
            <a:avLst>
              <a:gd name="adj" fmla="val 662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162776"/>
            <a:ext cx="403193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 Time &amp; Price Impact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051084" y="372415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 time and room price strongly affect cancellations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905482"/>
            <a:ext cx="6408063" cy="1438870"/>
          </a:xfrm>
          <a:prstGeom prst="roundRect">
            <a:avLst>
              <a:gd name="adj" fmla="val 662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316277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Booking Patterns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685842" y="372415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 lead-time bookings are more likely to be confirmed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571167"/>
            <a:ext cx="6407944" cy="1801773"/>
          </a:xfrm>
          <a:prstGeom prst="roundRect">
            <a:avLst>
              <a:gd name="adj" fmla="val 528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482846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Reliability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1051084" y="5389840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KNN provides reliable prediction for hotel booking outcomes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571167"/>
            <a:ext cx="6408063" cy="1801773"/>
          </a:xfrm>
          <a:prstGeom prst="roundRect">
            <a:avLst>
              <a:gd name="adj" fmla="val 528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4828461"/>
            <a:ext cx="431708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Enhancement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7685842" y="538984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scaling significantly improves model performance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E89223-917A-0581-CC4C-FB6253732EA9}"/>
              </a:ext>
            </a:extLst>
          </p:cNvPr>
          <p:cNvSpPr txBox="1"/>
          <p:nvPr/>
        </p:nvSpPr>
        <p:spPr>
          <a:xfrm>
            <a:off x="3562350" y="3391525"/>
            <a:ext cx="7505700" cy="144655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8800" b="1" dirty="0">
                <a:latin typeface="Arial Rounded MT Bold" panose="020F0704030504030204" pitchFamily="34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44315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4337</TotalTime>
  <Words>389</Words>
  <Application>Microsoft Office PowerPoint</Application>
  <PresentationFormat>Custom</PresentationFormat>
  <Paragraphs>107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 Light</vt:lpstr>
      <vt:lpstr>Roboto</vt:lpstr>
      <vt:lpstr>Arial Rounded MT Bold</vt:lpstr>
      <vt:lpstr>Raleway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Atharv nikam</cp:lastModifiedBy>
  <cp:revision>5</cp:revision>
  <dcterms:created xsi:type="dcterms:W3CDTF">2025-12-27T16:03:35Z</dcterms:created>
  <dcterms:modified xsi:type="dcterms:W3CDTF">2025-12-31T07:01:18Z</dcterms:modified>
</cp:coreProperties>
</file>